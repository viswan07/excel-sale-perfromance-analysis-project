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SWAN P N" initials="VPN" lastIdx="0" clrIdx="0">
    <p:extLst>
      <p:ext uri="{19B8F6BF-5375-455C-9EA6-DF929625EA0E}">
        <p15:presenceInfo xmlns:p15="http://schemas.microsoft.com/office/powerpoint/2012/main" userId="VISWAN P 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898665-F55E-44F6-82F6-450A29E847DF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1388157-EF06-4C0F-9913-2DD982C0E18B}">
      <dgm:prSet/>
      <dgm:spPr/>
      <dgm:t>
        <a:bodyPr/>
        <a:lstStyle/>
        <a:p>
          <a:r>
            <a:rPr lang="en-IN" dirty="0"/>
            <a:t>This project </a:t>
          </a:r>
          <a:r>
            <a:rPr lang="en-IN" dirty="0" err="1"/>
            <a:t>analy</a:t>
          </a:r>
          <a:r>
            <a:rPr lang="en-US" dirty="0" err="1"/>
            <a:t>si</a:t>
          </a:r>
          <a:r>
            <a:rPr lang="en-IN" dirty="0"/>
            <a:t>s sales data across regions, categories, and sales reps to extract insights.</a:t>
          </a:r>
        </a:p>
      </dgm:t>
    </dgm:pt>
    <dgm:pt modelId="{A974DD6A-3360-47BF-A227-1201EAB2B54F}" type="parTrans" cxnId="{A63A372C-4887-4333-A5A8-E2707066A177}">
      <dgm:prSet/>
      <dgm:spPr/>
      <dgm:t>
        <a:bodyPr/>
        <a:lstStyle/>
        <a:p>
          <a:endParaRPr lang="en-IN"/>
        </a:p>
      </dgm:t>
    </dgm:pt>
    <dgm:pt modelId="{6AEB8710-81A1-4D11-A9FD-0BFC09457DA7}" type="sibTrans" cxnId="{A63A372C-4887-4333-A5A8-E2707066A177}">
      <dgm:prSet/>
      <dgm:spPr/>
      <dgm:t>
        <a:bodyPr/>
        <a:lstStyle/>
        <a:p>
          <a:endParaRPr lang="en-IN"/>
        </a:p>
      </dgm:t>
    </dgm:pt>
    <dgm:pt modelId="{C3542A61-97AD-48F1-91CE-5E9E8AB2F922}" type="pres">
      <dgm:prSet presAssocID="{B2898665-F55E-44F6-82F6-450A29E847DF}" presName="Name0" presStyleCnt="0">
        <dgm:presLayoutVars>
          <dgm:dir/>
          <dgm:resizeHandles val="exact"/>
        </dgm:presLayoutVars>
      </dgm:prSet>
      <dgm:spPr/>
    </dgm:pt>
    <dgm:pt modelId="{5E05C306-FF5E-4BD3-8D23-CAC0112792D7}" type="pres">
      <dgm:prSet presAssocID="{B2898665-F55E-44F6-82F6-450A29E847DF}" presName="fgShape" presStyleLbl="fgShp" presStyleIdx="0" presStyleCnt="1"/>
      <dgm:spPr/>
    </dgm:pt>
    <dgm:pt modelId="{236FD9B6-58C2-4875-8809-F090F3D02C8B}" type="pres">
      <dgm:prSet presAssocID="{B2898665-F55E-44F6-82F6-450A29E847DF}" presName="linComp" presStyleCnt="0"/>
      <dgm:spPr/>
    </dgm:pt>
    <dgm:pt modelId="{FAFE7F8D-7EB1-4854-BFFB-4460A54D9756}" type="pres">
      <dgm:prSet presAssocID="{31388157-EF06-4C0F-9913-2DD982C0E18B}" presName="compNode" presStyleCnt="0"/>
      <dgm:spPr/>
    </dgm:pt>
    <dgm:pt modelId="{40044688-72C8-4F02-BAA3-6DDF91E396F9}" type="pres">
      <dgm:prSet presAssocID="{31388157-EF06-4C0F-9913-2DD982C0E18B}" presName="bkgdShape" presStyleLbl="node1" presStyleIdx="0" presStyleCnt="1"/>
      <dgm:spPr/>
    </dgm:pt>
    <dgm:pt modelId="{834C7D7E-EEEE-4A02-8CF0-CB9EFCD802C3}" type="pres">
      <dgm:prSet presAssocID="{31388157-EF06-4C0F-9913-2DD982C0E18B}" presName="nodeTx" presStyleLbl="node1" presStyleIdx="0" presStyleCnt="1">
        <dgm:presLayoutVars>
          <dgm:bulletEnabled val="1"/>
        </dgm:presLayoutVars>
      </dgm:prSet>
      <dgm:spPr/>
    </dgm:pt>
    <dgm:pt modelId="{0BC9ED92-AF47-4359-8A23-70CA3DE939E8}" type="pres">
      <dgm:prSet presAssocID="{31388157-EF06-4C0F-9913-2DD982C0E18B}" presName="invisiNode" presStyleLbl="node1" presStyleIdx="0" presStyleCnt="1"/>
      <dgm:spPr/>
    </dgm:pt>
    <dgm:pt modelId="{6784E28E-2D5C-449B-BAA7-C4E6381FE324}" type="pres">
      <dgm:prSet presAssocID="{31388157-EF06-4C0F-9913-2DD982C0E18B}" presName="imagNode" presStyleLbl="fgImgPlace1" presStyleIdx="0" presStyleCnt="1" custScaleX="480229" custScaleY="132379"/>
      <dgm:spPr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2000" b="-52000"/>
          </a:stretch>
        </a:blipFill>
      </dgm:spPr>
    </dgm:pt>
  </dgm:ptLst>
  <dgm:cxnLst>
    <dgm:cxn modelId="{A63A372C-4887-4333-A5A8-E2707066A177}" srcId="{B2898665-F55E-44F6-82F6-450A29E847DF}" destId="{31388157-EF06-4C0F-9913-2DD982C0E18B}" srcOrd="0" destOrd="0" parTransId="{A974DD6A-3360-47BF-A227-1201EAB2B54F}" sibTransId="{6AEB8710-81A1-4D11-A9FD-0BFC09457DA7}"/>
    <dgm:cxn modelId="{51F72180-8053-477E-877D-FDB93ABFBBB9}" type="presOf" srcId="{31388157-EF06-4C0F-9913-2DD982C0E18B}" destId="{834C7D7E-EEEE-4A02-8CF0-CB9EFCD802C3}" srcOrd="1" destOrd="0" presId="urn:microsoft.com/office/officeart/2005/8/layout/hList7"/>
    <dgm:cxn modelId="{617DADCD-921A-42A1-A1A2-D0809705E856}" type="presOf" srcId="{B2898665-F55E-44F6-82F6-450A29E847DF}" destId="{C3542A61-97AD-48F1-91CE-5E9E8AB2F922}" srcOrd="0" destOrd="0" presId="urn:microsoft.com/office/officeart/2005/8/layout/hList7"/>
    <dgm:cxn modelId="{6570BDEC-1CE9-4B4D-B544-48FD5CDBF593}" type="presOf" srcId="{31388157-EF06-4C0F-9913-2DD982C0E18B}" destId="{40044688-72C8-4F02-BAA3-6DDF91E396F9}" srcOrd="0" destOrd="0" presId="urn:microsoft.com/office/officeart/2005/8/layout/hList7"/>
    <dgm:cxn modelId="{B431300E-472A-48A2-9E0C-F36CB1D94F9E}" type="presParOf" srcId="{C3542A61-97AD-48F1-91CE-5E9E8AB2F922}" destId="{5E05C306-FF5E-4BD3-8D23-CAC0112792D7}" srcOrd="0" destOrd="0" presId="urn:microsoft.com/office/officeart/2005/8/layout/hList7"/>
    <dgm:cxn modelId="{EB0A5105-0AD3-4AB6-954C-D57AD14E03D3}" type="presParOf" srcId="{C3542A61-97AD-48F1-91CE-5E9E8AB2F922}" destId="{236FD9B6-58C2-4875-8809-F090F3D02C8B}" srcOrd="1" destOrd="0" presId="urn:microsoft.com/office/officeart/2005/8/layout/hList7"/>
    <dgm:cxn modelId="{99CB7FDF-766B-4568-8B95-5184D007050A}" type="presParOf" srcId="{236FD9B6-58C2-4875-8809-F090F3D02C8B}" destId="{FAFE7F8D-7EB1-4854-BFFB-4460A54D9756}" srcOrd="0" destOrd="0" presId="urn:microsoft.com/office/officeart/2005/8/layout/hList7"/>
    <dgm:cxn modelId="{0EA3C61A-CB59-408C-85BE-B49FF7390EAB}" type="presParOf" srcId="{FAFE7F8D-7EB1-4854-BFFB-4460A54D9756}" destId="{40044688-72C8-4F02-BAA3-6DDF91E396F9}" srcOrd="0" destOrd="0" presId="urn:microsoft.com/office/officeart/2005/8/layout/hList7"/>
    <dgm:cxn modelId="{EC2A439B-DCCD-4075-97A5-3D6CFB3EEF75}" type="presParOf" srcId="{FAFE7F8D-7EB1-4854-BFFB-4460A54D9756}" destId="{834C7D7E-EEEE-4A02-8CF0-CB9EFCD802C3}" srcOrd="1" destOrd="0" presId="urn:microsoft.com/office/officeart/2005/8/layout/hList7"/>
    <dgm:cxn modelId="{E2B10DEC-0364-4229-8B1D-E5D87EE58F83}" type="presParOf" srcId="{FAFE7F8D-7EB1-4854-BFFB-4460A54D9756}" destId="{0BC9ED92-AF47-4359-8A23-70CA3DE939E8}" srcOrd="2" destOrd="0" presId="urn:microsoft.com/office/officeart/2005/8/layout/hList7"/>
    <dgm:cxn modelId="{882ABA5B-CD94-43B9-9188-7ACDA8777487}" type="presParOf" srcId="{FAFE7F8D-7EB1-4854-BFFB-4460A54D9756}" destId="{6784E28E-2D5C-449B-BAA7-C4E6381FE324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C58C01-749B-4C37-8860-5B0BC6FF0239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B5AB7D9-AE56-442D-9124-B99492F809F2}">
      <dgm:prSet/>
      <dgm:spPr/>
      <dgm:t>
        <a:bodyPr/>
        <a:lstStyle/>
        <a:p>
          <a:r>
            <a:rPr lang="en-IN"/>
            <a:t>Lack of structured analysis for sales performance, profit trends, and customer behavior.</a:t>
          </a:r>
        </a:p>
      </dgm:t>
    </dgm:pt>
    <dgm:pt modelId="{BC108CB2-0560-4B02-B5A3-3624660C6934}" type="parTrans" cxnId="{BEE682BB-635F-453C-89DF-8C04B5BB2E18}">
      <dgm:prSet/>
      <dgm:spPr/>
      <dgm:t>
        <a:bodyPr/>
        <a:lstStyle/>
        <a:p>
          <a:endParaRPr lang="en-IN"/>
        </a:p>
      </dgm:t>
    </dgm:pt>
    <dgm:pt modelId="{8B514F7C-0E97-4788-A0CF-546695C336B9}" type="sibTrans" cxnId="{BEE682BB-635F-453C-89DF-8C04B5BB2E18}">
      <dgm:prSet/>
      <dgm:spPr/>
      <dgm:t>
        <a:bodyPr/>
        <a:lstStyle/>
        <a:p>
          <a:endParaRPr lang="en-IN"/>
        </a:p>
      </dgm:t>
    </dgm:pt>
    <dgm:pt modelId="{5E242025-9428-4057-B47D-059C2E62FD34}" type="pres">
      <dgm:prSet presAssocID="{32C58C01-749B-4C37-8860-5B0BC6FF0239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44A0B5A1-A1F1-463D-A0AC-06495DBF9F3B}" type="pres">
      <dgm:prSet presAssocID="{AB5AB7D9-AE56-442D-9124-B99492F809F2}" presName="horFlow" presStyleCnt="0"/>
      <dgm:spPr/>
    </dgm:pt>
    <dgm:pt modelId="{A09523AD-C822-4B68-BEFA-AD9EF48BC790}" type="pres">
      <dgm:prSet presAssocID="{AB5AB7D9-AE56-442D-9124-B99492F809F2}" presName="bigChev" presStyleLbl="node1" presStyleIdx="0" presStyleCnt="1"/>
      <dgm:spPr/>
    </dgm:pt>
  </dgm:ptLst>
  <dgm:cxnLst>
    <dgm:cxn modelId="{B65378B1-C20C-47AB-A924-B74795DA7F49}" type="presOf" srcId="{AB5AB7D9-AE56-442D-9124-B99492F809F2}" destId="{A09523AD-C822-4B68-BEFA-AD9EF48BC790}" srcOrd="0" destOrd="0" presId="urn:microsoft.com/office/officeart/2005/8/layout/lProcess3"/>
    <dgm:cxn modelId="{ED503EBA-A18C-454E-BCBB-81AA14631DAF}" type="presOf" srcId="{32C58C01-749B-4C37-8860-5B0BC6FF0239}" destId="{5E242025-9428-4057-B47D-059C2E62FD34}" srcOrd="0" destOrd="0" presId="urn:microsoft.com/office/officeart/2005/8/layout/lProcess3"/>
    <dgm:cxn modelId="{BEE682BB-635F-453C-89DF-8C04B5BB2E18}" srcId="{32C58C01-749B-4C37-8860-5B0BC6FF0239}" destId="{AB5AB7D9-AE56-442D-9124-B99492F809F2}" srcOrd="0" destOrd="0" parTransId="{BC108CB2-0560-4B02-B5A3-3624660C6934}" sibTransId="{8B514F7C-0E97-4788-A0CF-546695C336B9}"/>
    <dgm:cxn modelId="{0AC14736-A441-4D33-A42C-0F35836B5906}" type="presParOf" srcId="{5E242025-9428-4057-B47D-059C2E62FD34}" destId="{44A0B5A1-A1F1-463D-A0AC-06495DBF9F3B}" srcOrd="0" destOrd="0" presId="urn:microsoft.com/office/officeart/2005/8/layout/lProcess3"/>
    <dgm:cxn modelId="{143E5308-9208-4A6D-9F6D-3953BFF171F3}" type="presParOf" srcId="{44A0B5A1-A1F1-463D-A0AC-06495DBF9F3B}" destId="{A09523AD-C822-4B68-BEFA-AD9EF48BC790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114F7B-3418-4935-8AA8-1EFBC789B7D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D04ED3D-F8B9-4476-8097-84CAADAF9F07}">
      <dgm:prSet/>
      <dgm:spPr/>
      <dgm:t>
        <a:bodyPr/>
        <a:lstStyle/>
        <a:p>
          <a:r>
            <a:rPr lang="en-IN"/>
            <a:t>- Clean dataset</a:t>
          </a:r>
        </a:p>
      </dgm:t>
    </dgm:pt>
    <dgm:pt modelId="{803D4F00-CB57-4528-B800-FD0249758890}" type="parTrans" cxnId="{77A7DE0D-F1F8-4C55-823A-75437D2A3956}">
      <dgm:prSet/>
      <dgm:spPr/>
      <dgm:t>
        <a:bodyPr/>
        <a:lstStyle/>
        <a:p>
          <a:endParaRPr lang="en-IN"/>
        </a:p>
      </dgm:t>
    </dgm:pt>
    <dgm:pt modelId="{162C4AC4-4E4A-4FE2-A629-5E3B2D123D89}" type="sibTrans" cxnId="{77A7DE0D-F1F8-4C55-823A-75437D2A3956}">
      <dgm:prSet/>
      <dgm:spPr/>
      <dgm:t>
        <a:bodyPr/>
        <a:lstStyle/>
        <a:p>
          <a:endParaRPr lang="en-IN"/>
        </a:p>
      </dgm:t>
    </dgm:pt>
    <dgm:pt modelId="{51DBDDF2-BE77-4ACE-B446-23975C54A13A}">
      <dgm:prSet/>
      <dgm:spPr/>
      <dgm:t>
        <a:bodyPr/>
        <a:lstStyle/>
        <a:p>
          <a:r>
            <a:rPr lang="en-IN"/>
            <a:t>- Perform sales and profit analysis</a:t>
          </a:r>
        </a:p>
      </dgm:t>
    </dgm:pt>
    <dgm:pt modelId="{4729202A-E9ED-48E6-96B3-6A584D72E371}" type="parTrans" cxnId="{61DC593F-0842-433C-9524-97E5B5284FBB}">
      <dgm:prSet/>
      <dgm:spPr/>
      <dgm:t>
        <a:bodyPr/>
        <a:lstStyle/>
        <a:p>
          <a:endParaRPr lang="en-IN"/>
        </a:p>
      </dgm:t>
    </dgm:pt>
    <dgm:pt modelId="{2F89BFF6-9506-4011-B5B9-A12A0E875FD0}" type="sibTrans" cxnId="{61DC593F-0842-433C-9524-97E5B5284FBB}">
      <dgm:prSet/>
      <dgm:spPr/>
      <dgm:t>
        <a:bodyPr/>
        <a:lstStyle/>
        <a:p>
          <a:endParaRPr lang="en-IN"/>
        </a:p>
      </dgm:t>
    </dgm:pt>
    <dgm:pt modelId="{1E8FC5D7-992B-4EF1-AD39-4968C7748B20}">
      <dgm:prSet/>
      <dgm:spPr/>
      <dgm:t>
        <a:bodyPr/>
        <a:lstStyle/>
        <a:p>
          <a:r>
            <a:rPr lang="en-IN"/>
            <a:t>- Create pivot tables &amp; charts</a:t>
          </a:r>
        </a:p>
      </dgm:t>
    </dgm:pt>
    <dgm:pt modelId="{B69DE28D-049D-4D0F-8607-BEBDDE01998C}" type="parTrans" cxnId="{EDDA6BE3-C4E7-49A5-AF2B-C0DB73200636}">
      <dgm:prSet/>
      <dgm:spPr/>
      <dgm:t>
        <a:bodyPr/>
        <a:lstStyle/>
        <a:p>
          <a:endParaRPr lang="en-IN"/>
        </a:p>
      </dgm:t>
    </dgm:pt>
    <dgm:pt modelId="{6D98FB38-B5BC-4630-9DB9-BED875F99F50}" type="sibTrans" cxnId="{EDDA6BE3-C4E7-49A5-AF2B-C0DB73200636}">
      <dgm:prSet/>
      <dgm:spPr/>
      <dgm:t>
        <a:bodyPr/>
        <a:lstStyle/>
        <a:p>
          <a:endParaRPr lang="en-IN"/>
        </a:p>
      </dgm:t>
    </dgm:pt>
    <dgm:pt modelId="{8A1642D3-61DA-47B3-ADF3-069B9B585761}">
      <dgm:prSet/>
      <dgm:spPr/>
      <dgm:t>
        <a:bodyPr/>
        <a:lstStyle/>
        <a:p>
          <a:r>
            <a:rPr lang="en-IN"/>
            <a:t>- Provide insights for decision-making</a:t>
          </a:r>
        </a:p>
      </dgm:t>
    </dgm:pt>
    <dgm:pt modelId="{305EE819-E138-4AA2-A808-87254512826A}" type="parTrans" cxnId="{A5B8302F-495C-40B5-8333-9959DA27DC05}">
      <dgm:prSet/>
      <dgm:spPr/>
      <dgm:t>
        <a:bodyPr/>
        <a:lstStyle/>
        <a:p>
          <a:endParaRPr lang="en-IN"/>
        </a:p>
      </dgm:t>
    </dgm:pt>
    <dgm:pt modelId="{496456CE-1B62-4984-81F8-5195268BBB2B}" type="sibTrans" cxnId="{A5B8302F-495C-40B5-8333-9959DA27DC05}">
      <dgm:prSet/>
      <dgm:spPr/>
      <dgm:t>
        <a:bodyPr/>
        <a:lstStyle/>
        <a:p>
          <a:endParaRPr lang="en-IN"/>
        </a:p>
      </dgm:t>
    </dgm:pt>
    <dgm:pt modelId="{27E197DF-A673-4B07-BE11-82B4900C4C27}" type="pres">
      <dgm:prSet presAssocID="{A6114F7B-3418-4935-8AA8-1EFBC789B7DF}" presName="linearFlow" presStyleCnt="0">
        <dgm:presLayoutVars>
          <dgm:dir/>
          <dgm:resizeHandles val="exact"/>
        </dgm:presLayoutVars>
      </dgm:prSet>
      <dgm:spPr/>
    </dgm:pt>
    <dgm:pt modelId="{0140443E-7E6B-4817-BE65-52FDB4C18057}" type="pres">
      <dgm:prSet presAssocID="{CD04ED3D-F8B9-4476-8097-84CAADAF9F07}" presName="composite" presStyleCnt="0"/>
      <dgm:spPr/>
    </dgm:pt>
    <dgm:pt modelId="{6DE84F53-98BC-4AD6-BB4B-CDFA99946422}" type="pres">
      <dgm:prSet presAssocID="{CD04ED3D-F8B9-4476-8097-84CAADAF9F07}" presName="imgShp" presStyleLbl="fgImgPlace1" presStyleIdx="0" presStyleCnt="4" custScaleX="137511"/>
      <dgm:spPr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5000" r="-65000"/>
          </a:stretch>
        </a:blipFill>
      </dgm:spPr>
    </dgm:pt>
    <dgm:pt modelId="{46FE336C-1787-4C70-8079-E24972955114}" type="pres">
      <dgm:prSet presAssocID="{CD04ED3D-F8B9-4476-8097-84CAADAF9F07}" presName="txShp" presStyleLbl="node1" presStyleIdx="0" presStyleCnt="4">
        <dgm:presLayoutVars>
          <dgm:bulletEnabled val="1"/>
        </dgm:presLayoutVars>
      </dgm:prSet>
      <dgm:spPr>
        <a:prstGeom prst="rect">
          <a:avLst/>
        </a:prstGeom>
      </dgm:spPr>
    </dgm:pt>
    <dgm:pt modelId="{21AA03B1-BD68-4B7E-94B8-FB5B36E8F856}" type="pres">
      <dgm:prSet presAssocID="{162C4AC4-4E4A-4FE2-A629-5E3B2D123D89}" presName="spacing" presStyleCnt="0"/>
      <dgm:spPr/>
    </dgm:pt>
    <dgm:pt modelId="{08A4E973-D93D-4B0D-9492-45173AF5E411}" type="pres">
      <dgm:prSet presAssocID="{51DBDDF2-BE77-4ACE-B446-23975C54A13A}" presName="composite" presStyleCnt="0"/>
      <dgm:spPr/>
    </dgm:pt>
    <dgm:pt modelId="{48A60519-83F3-47A9-8D1F-3E34AF1FD1D8}" type="pres">
      <dgm:prSet presAssocID="{51DBDDF2-BE77-4ACE-B446-23975C54A13A}" presName="imgShp" presStyleLbl="fgImgPlace1" presStyleIdx="1" presStyleCnt="4" custScaleX="152966"/>
      <dgm:spPr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39000" r="-39000"/>
          </a:stretch>
        </a:blipFill>
      </dgm:spPr>
    </dgm:pt>
    <dgm:pt modelId="{80E5D997-A439-4806-BCDD-C8ED0454D314}" type="pres">
      <dgm:prSet presAssocID="{51DBDDF2-BE77-4ACE-B446-23975C54A13A}" presName="txShp" presStyleLbl="node1" presStyleIdx="1" presStyleCnt="4">
        <dgm:presLayoutVars>
          <dgm:bulletEnabled val="1"/>
        </dgm:presLayoutVars>
      </dgm:prSet>
      <dgm:spPr/>
    </dgm:pt>
    <dgm:pt modelId="{872A9EDB-F4D8-469F-BB4E-B51A0A017C7A}" type="pres">
      <dgm:prSet presAssocID="{2F89BFF6-9506-4011-B5B9-A12A0E875FD0}" presName="spacing" presStyleCnt="0"/>
      <dgm:spPr/>
    </dgm:pt>
    <dgm:pt modelId="{7EA41D64-EEE4-4FAB-A91D-FCC8B19468B3}" type="pres">
      <dgm:prSet presAssocID="{1E8FC5D7-992B-4EF1-AD39-4968C7748B20}" presName="composite" presStyleCnt="0"/>
      <dgm:spPr/>
    </dgm:pt>
    <dgm:pt modelId="{9501A554-DBD6-4180-8C74-62B0A7E78A73}" type="pres">
      <dgm:prSet presAssocID="{1E8FC5D7-992B-4EF1-AD39-4968C7748B20}" presName="imgShp" presStyleLbl="fgImgPlace1" presStyleIdx="2" presStyleCnt="4" custScaleX="149530"/>
      <dgm:spPr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39000" r="-39000"/>
          </a:stretch>
        </a:blipFill>
      </dgm:spPr>
    </dgm:pt>
    <dgm:pt modelId="{22B51094-1C78-442E-935E-7CA5AAD48054}" type="pres">
      <dgm:prSet presAssocID="{1E8FC5D7-992B-4EF1-AD39-4968C7748B20}" presName="txShp" presStyleLbl="node1" presStyleIdx="2" presStyleCnt="4">
        <dgm:presLayoutVars>
          <dgm:bulletEnabled val="1"/>
        </dgm:presLayoutVars>
      </dgm:prSet>
      <dgm:spPr/>
    </dgm:pt>
    <dgm:pt modelId="{BF28A7B0-D015-4872-B350-57BF8C36FF4E}" type="pres">
      <dgm:prSet presAssocID="{6D98FB38-B5BC-4630-9DB9-BED875F99F50}" presName="spacing" presStyleCnt="0"/>
      <dgm:spPr/>
    </dgm:pt>
    <dgm:pt modelId="{59144C26-C215-4DEC-9D22-FD621863E83D}" type="pres">
      <dgm:prSet presAssocID="{8A1642D3-61DA-47B3-ADF3-069B9B585761}" presName="composite" presStyleCnt="0"/>
      <dgm:spPr/>
    </dgm:pt>
    <dgm:pt modelId="{9D3D792D-2040-4BFD-88F8-3051577234E9}" type="pres">
      <dgm:prSet presAssocID="{8A1642D3-61DA-47B3-ADF3-069B9B585761}" presName="imgShp" presStyleLbl="fgImgPlace1" presStyleIdx="3" presStyleCnt="4" custScaleX="112996" custLinFactNeighborX="3542" custLinFactNeighborY="275"/>
      <dgm:spPr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39000" r="-39000"/>
          </a:stretch>
        </a:blipFill>
      </dgm:spPr>
    </dgm:pt>
    <dgm:pt modelId="{BA6C673D-AA6F-4082-996B-C26369E65A56}" type="pres">
      <dgm:prSet presAssocID="{8A1642D3-61DA-47B3-ADF3-069B9B58576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CC36506-4B87-4C0A-A0D4-0081D781753F}" type="presOf" srcId="{8A1642D3-61DA-47B3-ADF3-069B9B585761}" destId="{BA6C673D-AA6F-4082-996B-C26369E65A56}" srcOrd="0" destOrd="0" presId="urn:microsoft.com/office/officeart/2005/8/layout/vList3"/>
    <dgm:cxn modelId="{77A7DE0D-F1F8-4C55-823A-75437D2A3956}" srcId="{A6114F7B-3418-4935-8AA8-1EFBC789B7DF}" destId="{CD04ED3D-F8B9-4476-8097-84CAADAF9F07}" srcOrd="0" destOrd="0" parTransId="{803D4F00-CB57-4528-B800-FD0249758890}" sibTransId="{162C4AC4-4E4A-4FE2-A629-5E3B2D123D89}"/>
    <dgm:cxn modelId="{A5B8302F-495C-40B5-8333-9959DA27DC05}" srcId="{A6114F7B-3418-4935-8AA8-1EFBC789B7DF}" destId="{8A1642D3-61DA-47B3-ADF3-069B9B585761}" srcOrd="3" destOrd="0" parTransId="{305EE819-E138-4AA2-A808-87254512826A}" sibTransId="{496456CE-1B62-4984-81F8-5195268BBB2B}"/>
    <dgm:cxn modelId="{0509EA33-C2B4-4BD9-808F-B62CE45E922B}" type="presOf" srcId="{51DBDDF2-BE77-4ACE-B446-23975C54A13A}" destId="{80E5D997-A439-4806-BCDD-C8ED0454D314}" srcOrd="0" destOrd="0" presId="urn:microsoft.com/office/officeart/2005/8/layout/vList3"/>
    <dgm:cxn modelId="{61DC593F-0842-433C-9524-97E5B5284FBB}" srcId="{A6114F7B-3418-4935-8AA8-1EFBC789B7DF}" destId="{51DBDDF2-BE77-4ACE-B446-23975C54A13A}" srcOrd="1" destOrd="0" parTransId="{4729202A-E9ED-48E6-96B3-6A584D72E371}" sibTransId="{2F89BFF6-9506-4011-B5B9-A12A0E875FD0}"/>
    <dgm:cxn modelId="{E805664D-C309-443D-B489-75ABA8B1A452}" type="presOf" srcId="{1E8FC5D7-992B-4EF1-AD39-4968C7748B20}" destId="{22B51094-1C78-442E-935E-7CA5AAD48054}" srcOrd="0" destOrd="0" presId="urn:microsoft.com/office/officeart/2005/8/layout/vList3"/>
    <dgm:cxn modelId="{C0A411B2-73E4-47A5-BC81-D5E58980D7EF}" type="presOf" srcId="{A6114F7B-3418-4935-8AA8-1EFBC789B7DF}" destId="{27E197DF-A673-4B07-BE11-82B4900C4C27}" srcOrd="0" destOrd="0" presId="urn:microsoft.com/office/officeart/2005/8/layout/vList3"/>
    <dgm:cxn modelId="{D66EEBE0-3F36-49FE-A43C-BC37562DD4DB}" type="presOf" srcId="{CD04ED3D-F8B9-4476-8097-84CAADAF9F07}" destId="{46FE336C-1787-4C70-8079-E24972955114}" srcOrd="0" destOrd="0" presId="urn:microsoft.com/office/officeart/2005/8/layout/vList3"/>
    <dgm:cxn modelId="{EDDA6BE3-C4E7-49A5-AF2B-C0DB73200636}" srcId="{A6114F7B-3418-4935-8AA8-1EFBC789B7DF}" destId="{1E8FC5D7-992B-4EF1-AD39-4968C7748B20}" srcOrd="2" destOrd="0" parTransId="{B69DE28D-049D-4D0F-8607-BEBDDE01998C}" sibTransId="{6D98FB38-B5BC-4630-9DB9-BED875F99F50}"/>
    <dgm:cxn modelId="{CAB9FD38-5B6E-42B1-AE0D-E83FBF0F35EF}" type="presParOf" srcId="{27E197DF-A673-4B07-BE11-82B4900C4C27}" destId="{0140443E-7E6B-4817-BE65-52FDB4C18057}" srcOrd="0" destOrd="0" presId="urn:microsoft.com/office/officeart/2005/8/layout/vList3"/>
    <dgm:cxn modelId="{C83AD015-6EBF-4C45-B256-F591A2566DBF}" type="presParOf" srcId="{0140443E-7E6B-4817-BE65-52FDB4C18057}" destId="{6DE84F53-98BC-4AD6-BB4B-CDFA99946422}" srcOrd="0" destOrd="0" presId="urn:microsoft.com/office/officeart/2005/8/layout/vList3"/>
    <dgm:cxn modelId="{BC0AAC3C-32B3-438F-B4EE-BAB3EA4E822C}" type="presParOf" srcId="{0140443E-7E6B-4817-BE65-52FDB4C18057}" destId="{46FE336C-1787-4C70-8079-E24972955114}" srcOrd="1" destOrd="0" presId="urn:microsoft.com/office/officeart/2005/8/layout/vList3"/>
    <dgm:cxn modelId="{66B66EA1-BD85-47B9-A902-ECD4C81EDE21}" type="presParOf" srcId="{27E197DF-A673-4B07-BE11-82B4900C4C27}" destId="{21AA03B1-BD68-4B7E-94B8-FB5B36E8F856}" srcOrd="1" destOrd="0" presId="urn:microsoft.com/office/officeart/2005/8/layout/vList3"/>
    <dgm:cxn modelId="{60C5CAE2-53B2-4697-B0A4-0839E87FB6A7}" type="presParOf" srcId="{27E197DF-A673-4B07-BE11-82B4900C4C27}" destId="{08A4E973-D93D-4B0D-9492-45173AF5E411}" srcOrd="2" destOrd="0" presId="urn:microsoft.com/office/officeart/2005/8/layout/vList3"/>
    <dgm:cxn modelId="{626EE4E6-83BE-4B76-B8A0-6A44BB4636ED}" type="presParOf" srcId="{08A4E973-D93D-4B0D-9492-45173AF5E411}" destId="{48A60519-83F3-47A9-8D1F-3E34AF1FD1D8}" srcOrd="0" destOrd="0" presId="urn:microsoft.com/office/officeart/2005/8/layout/vList3"/>
    <dgm:cxn modelId="{95CF6DF9-D3EF-4BBE-850A-F283631A76D0}" type="presParOf" srcId="{08A4E973-D93D-4B0D-9492-45173AF5E411}" destId="{80E5D997-A439-4806-BCDD-C8ED0454D314}" srcOrd="1" destOrd="0" presId="urn:microsoft.com/office/officeart/2005/8/layout/vList3"/>
    <dgm:cxn modelId="{77610DAB-BD9A-4320-9788-EED3774AA340}" type="presParOf" srcId="{27E197DF-A673-4B07-BE11-82B4900C4C27}" destId="{872A9EDB-F4D8-469F-BB4E-B51A0A017C7A}" srcOrd="3" destOrd="0" presId="urn:microsoft.com/office/officeart/2005/8/layout/vList3"/>
    <dgm:cxn modelId="{16A3DD03-4A7F-4D89-AA5B-4678C8377F7A}" type="presParOf" srcId="{27E197DF-A673-4B07-BE11-82B4900C4C27}" destId="{7EA41D64-EEE4-4FAB-A91D-FCC8B19468B3}" srcOrd="4" destOrd="0" presId="urn:microsoft.com/office/officeart/2005/8/layout/vList3"/>
    <dgm:cxn modelId="{6AECA322-B50A-4399-B606-4272D43AC0B8}" type="presParOf" srcId="{7EA41D64-EEE4-4FAB-A91D-FCC8B19468B3}" destId="{9501A554-DBD6-4180-8C74-62B0A7E78A73}" srcOrd="0" destOrd="0" presId="urn:microsoft.com/office/officeart/2005/8/layout/vList3"/>
    <dgm:cxn modelId="{EA8DEDB3-8791-4793-A1E1-90E1E0D7609F}" type="presParOf" srcId="{7EA41D64-EEE4-4FAB-A91D-FCC8B19468B3}" destId="{22B51094-1C78-442E-935E-7CA5AAD48054}" srcOrd="1" destOrd="0" presId="urn:microsoft.com/office/officeart/2005/8/layout/vList3"/>
    <dgm:cxn modelId="{24F5782A-D30E-4584-9A4B-03FDF782AB23}" type="presParOf" srcId="{27E197DF-A673-4B07-BE11-82B4900C4C27}" destId="{BF28A7B0-D015-4872-B350-57BF8C36FF4E}" srcOrd="5" destOrd="0" presId="urn:microsoft.com/office/officeart/2005/8/layout/vList3"/>
    <dgm:cxn modelId="{E2CCAFC0-5E8A-408B-BA6E-E2DEE1D73FD8}" type="presParOf" srcId="{27E197DF-A673-4B07-BE11-82B4900C4C27}" destId="{59144C26-C215-4DEC-9D22-FD621863E83D}" srcOrd="6" destOrd="0" presId="urn:microsoft.com/office/officeart/2005/8/layout/vList3"/>
    <dgm:cxn modelId="{535973E1-E21C-4DEE-B8EF-24DA4BCD7546}" type="presParOf" srcId="{59144C26-C215-4DEC-9D22-FD621863E83D}" destId="{9D3D792D-2040-4BFD-88F8-3051577234E9}" srcOrd="0" destOrd="0" presId="urn:microsoft.com/office/officeart/2005/8/layout/vList3"/>
    <dgm:cxn modelId="{F8BE426A-6BF0-4A6E-86E6-9BCFD47C5D1C}" type="presParOf" srcId="{59144C26-C215-4DEC-9D22-FD621863E83D}" destId="{BA6C673D-AA6F-4082-996B-C26369E65A5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44688-72C8-4F02-BAA3-6DDF91E396F9}">
      <dsp:nvSpPr>
        <dsp:cNvPr id="0" name=""/>
        <dsp:cNvSpPr/>
      </dsp:nvSpPr>
      <dsp:spPr>
        <a:xfrm>
          <a:off x="0" y="0"/>
          <a:ext cx="6571343" cy="3371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This project </a:t>
          </a:r>
          <a:r>
            <a:rPr lang="en-IN" sz="2600" kern="1200" dirty="0" err="1"/>
            <a:t>analy</a:t>
          </a:r>
          <a:r>
            <a:rPr lang="en-US" sz="2600" kern="1200" dirty="0" err="1"/>
            <a:t>si</a:t>
          </a:r>
          <a:r>
            <a:rPr lang="en-IN" sz="2600" kern="1200" dirty="0"/>
            <a:t>s sales data across regions, categories, and sales reps to extract insights.</a:t>
          </a:r>
        </a:p>
      </dsp:txBody>
      <dsp:txXfrm>
        <a:off x="0" y="1348615"/>
        <a:ext cx="6571343" cy="1348615"/>
      </dsp:txXfrm>
    </dsp:sp>
    <dsp:sp modelId="{6784E28E-2D5C-449B-BAA7-C4E6381FE324}">
      <dsp:nvSpPr>
        <dsp:cNvPr id="0" name=""/>
        <dsp:cNvSpPr/>
      </dsp:nvSpPr>
      <dsp:spPr>
        <a:xfrm>
          <a:off x="589852" y="20529"/>
          <a:ext cx="5391638" cy="1486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2000" b="-52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05C306-FF5E-4BD3-8D23-CAC0112792D7}">
      <dsp:nvSpPr>
        <dsp:cNvPr id="0" name=""/>
        <dsp:cNvSpPr/>
      </dsp:nvSpPr>
      <dsp:spPr>
        <a:xfrm>
          <a:off x="262853" y="2697231"/>
          <a:ext cx="6045635" cy="50573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523AD-C822-4B68-BEFA-AD9EF48BC790}">
      <dsp:nvSpPr>
        <dsp:cNvPr id="0" name=""/>
        <dsp:cNvSpPr/>
      </dsp:nvSpPr>
      <dsp:spPr>
        <a:xfrm>
          <a:off x="0" y="411037"/>
          <a:ext cx="6571343" cy="262853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24130" rIns="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Lack of structured analysis for sales performance, profit trends, and customer behavior.</a:t>
          </a:r>
        </a:p>
      </dsp:txBody>
      <dsp:txXfrm>
        <a:off x="1314269" y="411037"/>
        <a:ext cx="3942806" cy="2628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E336C-1787-4C70-8079-E24972955114}">
      <dsp:nvSpPr>
        <dsp:cNvPr id="0" name=""/>
        <dsp:cNvSpPr/>
      </dsp:nvSpPr>
      <dsp:spPr>
        <a:xfrm rot="10800000">
          <a:off x="1342740" y="1933"/>
          <a:ext cx="4369943" cy="704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- Clean dataset</a:t>
          </a:r>
        </a:p>
      </dsp:txBody>
      <dsp:txXfrm rot="10800000">
        <a:off x="1342740" y="1933"/>
        <a:ext cx="4369943" cy="704061"/>
      </dsp:txXfrm>
    </dsp:sp>
    <dsp:sp modelId="{6DE84F53-98BC-4AD6-BB4B-CDFA99946422}">
      <dsp:nvSpPr>
        <dsp:cNvPr id="0" name=""/>
        <dsp:cNvSpPr/>
      </dsp:nvSpPr>
      <dsp:spPr>
        <a:xfrm>
          <a:off x="858659" y="1933"/>
          <a:ext cx="968161" cy="7040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5000" r="-6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E5D997-A439-4806-BCDD-C8ED0454D314}">
      <dsp:nvSpPr>
        <dsp:cNvPr id="0" name=""/>
        <dsp:cNvSpPr/>
      </dsp:nvSpPr>
      <dsp:spPr>
        <a:xfrm rot="10800000">
          <a:off x="1369943" y="916161"/>
          <a:ext cx="4369943" cy="7040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- Perform sales and profit analysis</a:t>
          </a:r>
        </a:p>
      </dsp:txBody>
      <dsp:txXfrm rot="10800000">
        <a:off x="1545958" y="916161"/>
        <a:ext cx="4193928" cy="704061"/>
      </dsp:txXfrm>
    </dsp:sp>
    <dsp:sp modelId="{48A60519-83F3-47A9-8D1F-3E34AF1FD1D8}">
      <dsp:nvSpPr>
        <dsp:cNvPr id="0" name=""/>
        <dsp:cNvSpPr/>
      </dsp:nvSpPr>
      <dsp:spPr>
        <a:xfrm>
          <a:off x="831456" y="916161"/>
          <a:ext cx="1076973" cy="704061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39000" r="-3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B51094-1C78-442E-935E-7CA5AAD48054}">
      <dsp:nvSpPr>
        <dsp:cNvPr id="0" name=""/>
        <dsp:cNvSpPr/>
      </dsp:nvSpPr>
      <dsp:spPr>
        <a:xfrm rot="10800000">
          <a:off x="1363895" y="1830390"/>
          <a:ext cx="4369943" cy="7040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- Create pivot tables &amp; charts</a:t>
          </a:r>
        </a:p>
      </dsp:txBody>
      <dsp:txXfrm rot="10800000">
        <a:off x="1539910" y="1830390"/>
        <a:ext cx="4193928" cy="704061"/>
      </dsp:txXfrm>
    </dsp:sp>
    <dsp:sp modelId="{9501A554-DBD6-4180-8C74-62B0A7E78A73}">
      <dsp:nvSpPr>
        <dsp:cNvPr id="0" name=""/>
        <dsp:cNvSpPr/>
      </dsp:nvSpPr>
      <dsp:spPr>
        <a:xfrm>
          <a:off x="837504" y="1830390"/>
          <a:ext cx="1052782" cy="704061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39000" r="-3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6C673D-AA6F-4082-996B-C26369E65A56}">
      <dsp:nvSpPr>
        <dsp:cNvPr id="0" name=""/>
        <dsp:cNvSpPr/>
      </dsp:nvSpPr>
      <dsp:spPr>
        <a:xfrm rot="10800000">
          <a:off x="1299590" y="2744618"/>
          <a:ext cx="4369943" cy="7040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- Provide insights for decision-making</a:t>
          </a:r>
        </a:p>
      </dsp:txBody>
      <dsp:txXfrm rot="10800000">
        <a:off x="1475605" y="2744618"/>
        <a:ext cx="4193928" cy="704061"/>
      </dsp:txXfrm>
    </dsp:sp>
    <dsp:sp modelId="{9D3D792D-2040-4BFD-88F8-3051577234E9}">
      <dsp:nvSpPr>
        <dsp:cNvPr id="0" name=""/>
        <dsp:cNvSpPr/>
      </dsp:nvSpPr>
      <dsp:spPr>
        <a:xfrm>
          <a:off x="926747" y="2746551"/>
          <a:ext cx="795560" cy="704061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39000" r="-3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84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55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10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01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0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42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73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50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14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3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70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45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003366" y="1679575"/>
            <a:ext cx="4879571" cy="4156075"/>
          </a:xfrm>
        </p:spPr>
        <p:txBody>
          <a:bodyPr/>
          <a:lstStyle/>
          <a:p>
            <a:pPr algn="ctr"/>
            <a:br>
              <a:rPr lang="en-US" dirty="0">
                <a:latin typeface="Arial Black" panose="020B0A04020102020204" pitchFamily="34" charset="0"/>
              </a:rPr>
            </a:br>
            <a:br>
              <a:rPr lang="en-IN" dirty="0">
                <a:latin typeface="Arial Black" panose="020B0A04020102020204" pitchFamily="34" charset="0"/>
              </a:rPr>
            </a:br>
            <a:r>
              <a:rPr dirty="0">
                <a:latin typeface="Arial Black" panose="020B0A04020102020204" pitchFamily="34" charset="0"/>
              </a:rPr>
              <a:t>Sales Performance </a:t>
            </a:r>
            <a:r>
              <a:rPr lang="en-US" dirty="0">
                <a:latin typeface="Arial Black" panose="020B0A04020102020204" pitchFamily="34" charset="0"/>
              </a:rPr>
              <a:t>         </a:t>
            </a:r>
            <a:r>
              <a:rPr dirty="0">
                <a:latin typeface="Arial Black" panose="020B0A04020102020204" pitchFamily="34" charset="0"/>
              </a:rPr>
              <a:t>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85F1C5-2B2A-4D72-806A-5FD600645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4794239"/>
              </p:ext>
            </p:extLst>
          </p:nvPr>
        </p:nvGraphicFramePr>
        <p:xfrm>
          <a:off x="1443491" y="2094807"/>
          <a:ext cx="6571343" cy="3371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A8383A-A0B1-48E4-BB8C-966E8C4255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075458"/>
              </p:ext>
            </p:extLst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0ACEE2-DD99-414D-97FA-0D54B0939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485144"/>
              </p:ext>
            </p:extLst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Contains Product ID, Sales Date, Sales Rep, Region, Quantity, Category, Amount, Cost, Price, Profit, Discount, Customer Type, Payment Method, Channel.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6F0D4-4C5E-4775-BF52-7B30A2BA8D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716" t="-68136" r="-6987" b="13934"/>
          <a:stretch/>
        </p:blipFill>
        <p:spPr>
          <a:xfrm>
            <a:off x="0" y="1391654"/>
            <a:ext cx="9144000" cy="407469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symbols</a:t>
            </a:r>
          </a:p>
          <a:p>
            <a:r>
              <a:t>- Converted numeric fields</a:t>
            </a:r>
          </a:p>
          <a:p>
            <a:r>
              <a:t>- Standardized regions</a:t>
            </a:r>
          </a:p>
          <a:p>
            <a:r>
              <a:t>- Removed duplicates</a:t>
            </a:r>
          </a:p>
          <a:p>
            <a:r>
              <a:t>- Formatted 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D2CB9-0C20-49F4-9658-9B0C29C526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3185" t="-32372" r="40125" b="29964"/>
          <a:stretch/>
        </p:blipFill>
        <p:spPr>
          <a:xfrm>
            <a:off x="897775" y="857250"/>
            <a:ext cx="7963592" cy="3664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Region-wise sales</a:t>
            </a:r>
          </a:p>
          <a:p>
            <a:r>
              <a:t>- Category performance</a:t>
            </a:r>
          </a:p>
          <a:p>
            <a:r>
              <a:t>- Sales rep comparison</a:t>
            </a:r>
          </a:p>
          <a:p>
            <a:r>
              <a:t>- Customer type trends</a:t>
            </a:r>
          </a:p>
          <a:p>
            <a:r>
              <a:t>- Payment and channel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52D75-92AD-4904-AF01-284C87083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6" t="-177366" r="2000" b="465"/>
          <a:stretch/>
        </p:blipFill>
        <p:spPr>
          <a:xfrm>
            <a:off x="232756" y="1645920"/>
            <a:ext cx="8728364" cy="43475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C4EB57-4CAD-4F45-B846-ED69B4A48B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42" t="7691" r="26728" b="40269"/>
          <a:stretch/>
        </p:blipFill>
        <p:spPr>
          <a:xfrm>
            <a:off x="4862945" y="2227810"/>
            <a:ext cx="3699164" cy="18953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Functions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SUM, COUNT, COUNTIFS, IF, IFERROR, VLOOKUP, AVERAGE, MAX, MIN, Pivot Tables, Goal Seek</a:t>
            </a:r>
            <a:endParaRPr lang="en-US" dirty="0"/>
          </a:p>
          <a:p>
            <a:endParaRPr dirty="0"/>
          </a:p>
        </p:txBody>
      </p:sp>
      <p:pic>
        <p:nvPicPr>
          <p:cNvPr id="6" name="Picture 5" descr="Sales Analysis - Excel">
            <a:extLst>
              <a:ext uri="{FF2B5EF4-FFF2-40B4-BE49-F238E27FC236}">
                <a16:creationId xmlns:a16="http://schemas.microsoft.com/office/drawing/2014/main" id="{26807E06-E891-4281-9617-7D8C4E42D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4" y="3175462"/>
            <a:ext cx="8287791" cy="272657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Clothing &amp; Furniture high profit</a:t>
            </a:r>
          </a:p>
          <a:p>
            <a:r>
              <a:rPr dirty="0"/>
              <a:t>- North &amp; South perform well</a:t>
            </a:r>
          </a:p>
          <a:p>
            <a:r>
              <a:rPr dirty="0"/>
              <a:t>- Returning customers more profitable</a:t>
            </a:r>
          </a:p>
          <a:p>
            <a:r>
              <a:rPr dirty="0"/>
              <a:t>- Online channel dominates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E5F27-B87D-46FE-A5D9-562CA53120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2032" t="-145451" r="-35026" b="1250"/>
          <a:stretch/>
        </p:blipFill>
        <p:spPr>
          <a:xfrm>
            <a:off x="624840" y="804520"/>
            <a:ext cx="9144000" cy="51777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provides insights for better decision-making and improved sales strategies.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Forecasting</a:t>
            </a:r>
          </a:p>
          <a:p>
            <a:r>
              <a:t>- Automated dashboards</a:t>
            </a:r>
          </a:p>
          <a:p>
            <a:r>
              <a:t>- Power BI integration</a:t>
            </a:r>
          </a:p>
          <a:p>
            <a:r>
              <a:t>- Customer profiling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59DA-CFF1-4252-AD70-0E66FE250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4711063" cy="2541431"/>
          </a:xfrm>
        </p:spPr>
        <p:txBody>
          <a:bodyPr/>
          <a:lstStyle/>
          <a:p>
            <a:r>
              <a:rPr lang="en-US" b="1" i="1" cap="none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IN" b="1" i="1" cap="none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9B01D-A3ED-4D20-80D3-5B752F62C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9665" y="4739146"/>
            <a:ext cx="1317521" cy="1445343"/>
          </a:xfrm>
        </p:spPr>
        <p:txBody>
          <a:bodyPr>
            <a:normAutofit fontScale="25000" lnSpcReduction="20000"/>
          </a:bodyPr>
          <a:lstStyle/>
          <a:p>
            <a:endParaRPr lang="en-GB" dirty="0"/>
          </a:p>
          <a:p>
            <a:endParaRPr lang="en-IN" dirty="0"/>
          </a:p>
          <a:p>
            <a:endParaRPr lang="en-IN" dirty="0"/>
          </a:p>
          <a:p>
            <a:endParaRPr lang="en-IN" sz="5600" b="1" dirty="0">
              <a:latin typeface="Arial Narrow" panose="020B0606020202030204" pitchFamily="34" charset="0"/>
            </a:endParaRPr>
          </a:p>
          <a:p>
            <a:r>
              <a:rPr lang="en-IN" sz="5600" b="1" dirty="0">
                <a:latin typeface="Arial Narrow" panose="020B0606020202030204" pitchFamily="34" charset="0"/>
              </a:rPr>
              <a:t>  </a:t>
            </a:r>
            <a:r>
              <a:rPr lang="en-IN" sz="5600" b="1" dirty="0" err="1">
                <a:latin typeface="Arial Narrow" panose="020B0606020202030204" pitchFamily="34" charset="0"/>
              </a:rPr>
              <a:t>viswan</a:t>
            </a:r>
            <a:r>
              <a:rPr lang="en-IN" sz="5600" b="1" dirty="0">
                <a:latin typeface="Arial Narrow" panose="020B0606020202030204" pitchFamily="34" charset="0"/>
              </a:rPr>
              <a:t> p n </a:t>
            </a:r>
          </a:p>
          <a:p>
            <a:r>
              <a:rPr lang="en-IN" sz="5600" b="1" dirty="0">
                <a:latin typeface="Arial Narrow" panose="020B0606020202030204" pitchFamily="34" charset="0"/>
              </a:rPr>
              <a:t>d a batch</a:t>
            </a:r>
          </a:p>
        </p:txBody>
      </p:sp>
    </p:spTree>
    <p:extLst>
      <p:ext uri="{BB962C8B-B14F-4D97-AF65-F5344CB8AC3E}">
        <p14:creationId xmlns:p14="http://schemas.microsoft.com/office/powerpoint/2010/main" val="1958545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582</TotalTime>
  <Words>225</Words>
  <Application>Microsoft Office PowerPoint</Application>
  <PresentationFormat>On-screen Show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Arial Narrow</vt:lpstr>
      <vt:lpstr>Gill Sans MT</vt:lpstr>
      <vt:lpstr>Gallery</vt:lpstr>
      <vt:lpstr>  Sales Performance          Analysis</vt:lpstr>
      <vt:lpstr>Introduction</vt:lpstr>
      <vt:lpstr>Problem Statement</vt:lpstr>
      <vt:lpstr>Objectives</vt:lpstr>
      <vt:lpstr>Dataset Description</vt:lpstr>
      <vt:lpstr>Data Cleaning Steps</vt:lpstr>
      <vt:lpstr>Analysis Performed</vt:lpstr>
      <vt:lpstr>Excel Functions Used</vt:lpstr>
      <vt:lpstr>Insights &amp; Findings</vt:lpstr>
      <vt:lpstr>Conclusion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Analysis</dc:title>
  <dc:subject/>
  <dc:creator>VISWAN P N</dc:creator>
  <cp:keywords/>
  <dc:description>generated using python-pptx</dc:description>
  <cp:lastModifiedBy>VISWAN P N</cp:lastModifiedBy>
  <cp:revision>12</cp:revision>
  <dcterms:created xsi:type="dcterms:W3CDTF">2013-01-27T09:14:16Z</dcterms:created>
  <dcterms:modified xsi:type="dcterms:W3CDTF">2026-01-21T13:51:52Z</dcterms:modified>
  <cp:category/>
</cp:coreProperties>
</file>